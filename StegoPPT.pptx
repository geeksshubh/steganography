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7"/>
  </p:notesMasterIdLst>
  <p:sldIdLst>
    <p:sldId id="256" r:id="rId5"/>
    <p:sldId id="2146847054" r:id="rId6"/>
    <p:sldId id="262" r:id="rId7"/>
    <p:sldId id="263" r:id="rId8"/>
    <p:sldId id="265" r:id="rId9"/>
    <p:sldId id="2146847057" r:id="rId10"/>
    <p:sldId id="2146847060" r:id="rId11"/>
    <p:sldId id="2146847063" r:id="rId12"/>
    <p:sldId id="2146847064" r:id="rId13"/>
    <p:sldId id="2146847062" r:id="rId14"/>
    <p:sldId id="2146847061" r:id="rId15"/>
    <p:sldId id="25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94660"/>
  </p:normalViewPr>
  <p:slideViewPr>
    <p:cSldViewPr snapToGrid="0">
      <p:cViewPr varScale="1">
        <p:scale>
          <a:sx n="105" d="100"/>
          <a:sy n="105" d="100"/>
        </p:scale>
        <p:origin x="996"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25-02-2025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2/25/2025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2/25/2025</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2/25/2025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2/25/2025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2/25/2025</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2/25/2025</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2/25/2025</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2/25/2025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2/25/2025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2/25/2025</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2/25/2025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2/25/2025</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GeeksShubh/Steganography.git"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normAutofit fontScale="90000"/>
          </a:bodyPr>
          <a:lstStyle/>
          <a:p>
            <a:pPr algn="ctr"/>
            <a:r>
              <a:rPr lang="en-US" b="1" dirty="0">
                <a:solidFill>
                  <a:schemeClr val="accent1"/>
                </a:solidFill>
                <a:latin typeface="Arial" panose="020B0604020202020204" pitchFamily="34" charset="0"/>
                <a:cs typeface="Arial" panose="020B0604020202020204" pitchFamily="34" charset="0"/>
              </a:rPr>
              <a:t>Secure data hiding in image using steganography</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dirty="0">
                <a:solidFill>
                  <a:schemeClr val="accent1">
                    <a:lumMod val="75000"/>
                  </a:schemeClr>
                </a:solidFill>
                <a:latin typeface="Arial"/>
                <a:cs typeface="Arial"/>
              </a:rPr>
              <a:t>CAPSTONE PROJECT</a:t>
            </a:r>
          </a:p>
        </p:txBody>
      </p:sp>
      <p:sp>
        <p:nvSpPr>
          <p:cNvPr id="4" name="TextBox 3"/>
          <p:cNvSpPr txBox="1"/>
          <p:nvPr/>
        </p:nvSpPr>
        <p:spPr>
          <a:xfrm>
            <a:off x="1941016" y="4540645"/>
            <a:ext cx="7980183" cy="1631216"/>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r>
              <a:rPr lang="en-US" sz="2000" b="1" dirty="0">
                <a:solidFill>
                  <a:schemeClr val="accent1">
                    <a:lumMod val="75000"/>
                  </a:schemeClr>
                </a:solidFill>
                <a:latin typeface="Arial"/>
                <a:cs typeface="Arial"/>
              </a:rPr>
              <a:t>Student Name : Shubham Sharad Kshirsagar</a:t>
            </a:r>
          </a:p>
          <a:p>
            <a:r>
              <a:rPr lang="en-US" sz="2000" b="1" dirty="0">
                <a:solidFill>
                  <a:schemeClr val="accent1">
                    <a:lumMod val="75000"/>
                  </a:schemeClr>
                </a:solidFill>
                <a:latin typeface="Arial"/>
                <a:cs typeface="Arial"/>
              </a:rPr>
              <a:t>College Name &amp; Department : </a:t>
            </a:r>
            <a:r>
              <a:rPr lang="en-US" sz="2000" b="1" dirty="0" err="1">
                <a:solidFill>
                  <a:schemeClr val="accent1">
                    <a:lumMod val="75000"/>
                  </a:schemeClr>
                </a:solidFill>
                <a:latin typeface="Arial"/>
                <a:cs typeface="Arial"/>
              </a:rPr>
              <a:t>Rajarambapu</a:t>
            </a:r>
            <a:r>
              <a:rPr lang="en-US" sz="2000" b="1" dirty="0">
                <a:solidFill>
                  <a:schemeClr val="accent1">
                    <a:lumMod val="75000"/>
                  </a:schemeClr>
                </a:solidFill>
                <a:latin typeface="Arial"/>
                <a:cs typeface="Arial"/>
              </a:rPr>
              <a:t> Institute Of Technology, </a:t>
            </a:r>
            <a:r>
              <a:rPr lang="en-US" sz="2000" b="1" dirty="0" err="1">
                <a:solidFill>
                  <a:schemeClr val="accent1">
                    <a:lumMod val="75000"/>
                  </a:schemeClr>
                </a:solidFill>
                <a:latin typeface="Arial"/>
                <a:cs typeface="Arial"/>
              </a:rPr>
              <a:t>Rajaramnagar</a:t>
            </a:r>
            <a:r>
              <a:rPr lang="en-US" sz="2000" b="1" dirty="0">
                <a:solidFill>
                  <a:schemeClr val="accent1">
                    <a:lumMod val="75000"/>
                  </a:schemeClr>
                </a:solidFill>
                <a:latin typeface="Arial"/>
                <a:cs typeface="Arial"/>
              </a:rPr>
              <a:t> (Diploma in Computer Engineering)</a:t>
            </a:r>
          </a:p>
          <a:p>
            <a:endParaRPr lang="en-US" sz="2000" b="1" dirty="0">
              <a:solidFill>
                <a:schemeClr val="accent1">
                  <a:lumMod val="75000"/>
                </a:schemeClr>
              </a:solidFill>
              <a:latin typeface="Arial"/>
              <a:cs typeface="Arial"/>
            </a:endParaRP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p>
          <a:p>
            <a:pPr marL="305435" indent="-305435"/>
            <a:r>
              <a:rPr lang="en-US" sz="2000" b="1" dirty="0">
                <a:latin typeface="Arial"/>
                <a:ea typeface="+mn-lt"/>
                <a:cs typeface="Arial"/>
              </a:rPr>
              <a:t>Technology used</a:t>
            </a:r>
            <a:endParaRPr lang="en-US" dirty="0">
              <a:latin typeface="Arial"/>
              <a:cs typeface="Arial"/>
            </a:endParaRPr>
          </a:p>
          <a:p>
            <a:pPr marL="305435" indent="-305435"/>
            <a:r>
              <a:rPr lang="en-US" sz="2000" b="1" dirty="0">
                <a:latin typeface="Arial"/>
                <a:ea typeface="+mn-lt"/>
                <a:cs typeface="+mn-lt"/>
              </a:rPr>
              <a:t>Wow factor </a:t>
            </a:r>
            <a:endParaRPr lang="en-US" sz="2000" dirty="0">
              <a:latin typeface="Arial"/>
              <a:ea typeface="+mn-lt"/>
              <a:cs typeface="+mn-lt"/>
            </a:endParaRPr>
          </a:p>
          <a:p>
            <a:pPr marL="305435" indent="-305435"/>
            <a:r>
              <a:rPr lang="en-US" sz="2000" b="1" dirty="0">
                <a:latin typeface="Arial"/>
                <a:ea typeface="+mn-lt"/>
                <a:cs typeface="+mn-lt"/>
              </a:rPr>
              <a:t>End users</a:t>
            </a:r>
          </a:p>
          <a:p>
            <a:pPr marL="305435" indent="-305435"/>
            <a:r>
              <a:rPr lang="en-US" sz="2000" b="1" dirty="0">
                <a:latin typeface="Arial"/>
                <a:ea typeface="+mn-lt"/>
                <a:cs typeface="+mn-lt"/>
              </a:rPr>
              <a:t>Result</a:t>
            </a:r>
          </a:p>
          <a:p>
            <a:pPr marL="305435" indent="-305435"/>
            <a:r>
              <a:rPr lang="en-US" sz="2000" b="1" dirty="0">
                <a:latin typeface="Arial"/>
                <a:ea typeface="+mn-lt"/>
                <a:cs typeface="+mn-lt"/>
              </a:rPr>
              <a:t>Conclusion</a:t>
            </a:r>
          </a:p>
          <a:p>
            <a:pPr marL="305435" indent="-305435"/>
            <a:r>
              <a:rPr lang="en-US" sz="2000" b="1" dirty="0">
                <a:latin typeface="Arial"/>
                <a:ea typeface="+mn-lt"/>
                <a:cs typeface="+mn-lt"/>
              </a:rPr>
              <a:t>Git-hub Link</a:t>
            </a:r>
          </a:p>
          <a:p>
            <a:pPr marL="305435" indent="-305435"/>
            <a:r>
              <a:rPr lang="en-US" sz="2000" b="1" dirty="0">
                <a:latin typeface="Arial"/>
                <a:ea typeface="+mn-lt"/>
                <a:cs typeface="+mn-lt"/>
              </a:rPr>
              <a:t>Future scope</a:t>
            </a:r>
          </a:p>
          <a:p>
            <a:pPr marL="0" indent="0">
              <a:buNone/>
            </a:pPr>
            <a:endParaRPr lang="en-US" sz="2000" b="1" dirty="0">
              <a:latin typeface="Arial"/>
              <a:ea typeface="+mn-lt"/>
              <a:cs typeface="+mn-lt"/>
            </a:endParaRPr>
          </a:p>
          <a:p>
            <a:pPr marL="305435" indent="-305435"/>
            <a:endParaRPr lang="en-US" sz="2000" b="1" dirty="0">
              <a:latin typeface="Arial"/>
              <a:ea typeface="+mn-lt"/>
              <a:cs typeface="+mn-lt"/>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normAutofit lnSpcReduction="10000"/>
          </a:bodyPr>
          <a:lstStyle/>
          <a:p>
            <a:pPr marL="0" indent="0">
              <a:buNone/>
            </a:pPr>
            <a:r>
              <a:rPr lang="en-US" sz="2800" dirty="0">
                <a:latin typeface="Times New Roman" panose="02020603050405020304" pitchFamily="18" charset="0"/>
                <a:cs typeface="Times New Roman" panose="02020603050405020304" pitchFamily="18" charset="0"/>
              </a:rPr>
              <a:t>The project "Secure Data Hiding in Image Using Steganography" aims to develop a method for embedding sensitive information, such as text or files, into digital images in a way that ensures confidentiality and protection from unauthorized access. By utilizing steganographic techniques, the project will explore efficient algorithms for concealing data within an image's pixels while maintaining the image's visual quality. The system will incorporate encryption methods to enhance security, ensuring that the hidden data remains inaccessible to anyone without the proper decryption key. This project will contribute to secure communication and data storage, particularly in scenarios where privacy is crucial.</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Technology  used</a:t>
            </a:r>
            <a:endParaRPr lang="en-US" sz="4400" dirty="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389841" y="2414016"/>
            <a:ext cx="11613485" cy="1527048"/>
          </a:xfrm>
        </p:spPr>
        <p:txBody>
          <a:bodyPr vert="horz" lIns="91440" tIns="45720" rIns="91440" bIns="45720" rtlCol="0" anchor="ctr">
            <a:noAutofit/>
          </a:bodyPr>
          <a:lstStyle/>
          <a:p>
            <a:pPr>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Steganography</a:t>
            </a:r>
          </a:p>
          <a:p>
            <a:pPr>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Python Programming Language</a:t>
            </a:r>
          </a:p>
          <a:p>
            <a:pPr>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Libraries: cv2(OpenCV), </a:t>
            </a:r>
            <a:r>
              <a:rPr lang="en-IN" sz="2800" dirty="0" err="1">
                <a:latin typeface="Times New Roman" panose="02020603050405020304" pitchFamily="18" charset="0"/>
                <a:cs typeface="Times New Roman" panose="02020603050405020304" pitchFamily="18" charset="0"/>
              </a:rPr>
              <a:t>os</a:t>
            </a:r>
            <a:r>
              <a:rPr lang="en-IN" sz="2800" dirty="0">
                <a:latin typeface="Times New Roman" panose="02020603050405020304" pitchFamily="18" charset="0"/>
                <a:cs typeface="Times New Roman" panose="02020603050405020304" pitchFamily="18" charset="0"/>
              </a:rPr>
              <a:t>, string </a:t>
            </a:r>
          </a:p>
          <a:p>
            <a:pPr>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Visual Studio Code</a:t>
            </a:r>
          </a:p>
          <a:p>
            <a:pPr>
              <a:buFont typeface="Arial" panose="020B0604020202020204" pitchFamily="34" charset="0"/>
              <a:buChar char="•"/>
            </a:pPr>
            <a:r>
              <a:rPr lang="en-IN" sz="2800" dirty="0" err="1">
                <a:latin typeface="Times New Roman" panose="02020603050405020304" pitchFamily="18" charset="0"/>
                <a:cs typeface="Times New Roman" panose="02020603050405020304" pitchFamily="18" charset="0"/>
              </a:rPr>
              <a:t>Github</a:t>
            </a:r>
            <a:endParaRPr lang="en-IN" sz="2800"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1" y="771730"/>
            <a:ext cx="11029616" cy="530296"/>
          </a:xfrm>
        </p:spPr>
        <p:txBody>
          <a:bodyPr>
            <a:noAutofit/>
          </a:bodyPr>
          <a:lstStyle/>
          <a:p>
            <a:r>
              <a:rPr lang="en-US" sz="3200" b="1" dirty="0">
                <a:solidFill>
                  <a:schemeClr val="accent1"/>
                </a:solidFill>
                <a:latin typeface="Arial"/>
                <a:ea typeface="+mj-lt"/>
                <a:cs typeface="Arial"/>
              </a:rPr>
              <a:t>Wow factors</a:t>
            </a:r>
            <a:endParaRPr lang="en-US" sz="3200" dirty="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p:txBody>
          <a:bodyPr>
            <a:normAutofit fontScale="92500"/>
          </a:bodyPr>
          <a:lstStyle/>
          <a:p>
            <a:pPr marL="514350" indent="-514350">
              <a:buAutoNum type="arabicPeriod"/>
            </a:pPr>
            <a:r>
              <a:rPr lang="en-US" sz="2800" dirty="0">
                <a:solidFill>
                  <a:srgbClr val="0F0F0F"/>
                </a:solidFill>
                <a:latin typeface="Times New Roman" panose="02020603050405020304" pitchFamily="18" charset="0"/>
                <a:cs typeface="Times New Roman" panose="02020603050405020304" pitchFamily="18" charset="0"/>
              </a:rPr>
              <a:t>Steganography and Encryption: Combines data hiding with password protection for added security.  </a:t>
            </a:r>
          </a:p>
          <a:p>
            <a:pPr marL="514350" indent="-514350">
              <a:buAutoNum type="arabicPeriod"/>
            </a:pPr>
            <a:r>
              <a:rPr lang="en-US" sz="2800" dirty="0">
                <a:solidFill>
                  <a:srgbClr val="0F0F0F"/>
                </a:solidFill>
                <a:latin typeface="Times New Roman" panose="02020603050405020304" pitchFamily="18" charset="0"/>
                <a:cs typeface="Times New Roman" panose="02020603050405020304" pitchFamily="18" charset="0"/>
              </a:rPr>
              <a:t>Pixel-Level Embedding: Preserves image quality while concealing the message.</a:t>
            </a:r>
          </a:p>
          <a:p>
            <a:pPr marL="514350" indent="-514350">
              <a:buAutoNum type="arabicPeriod"/>
            </a:pPr>
            <a:r>
              <a:rPr lang="en-US" sz="2800" dirty="0">
                <a:solidFill>
                  <a:srgbClr val="0F0F0F"/>
                </a:solidFill>
                <a:latin typeface="Times New Roman" panose="02020603050405020304" pitchFamily="18" charset="0"/>
                <a:cs typeface="Times New Roman" panose="02020603050405020304" pitchFamily="18" charset="0"/>
              </a:rPr>
              <a:t>Password-Based Decryption: Ensures only authorized access to the hidden data.</a:t>
            </a:r>
          </a:p>
          <a:p>
            <a:pPr marL="514350" indent="-514350">
              <a:buAutoNum type="arabicPeriod"/>
            </a:pPr>
            <a:r>
              <a:rPr lang="en-US" sz="2800" dirty="0">
                <a:solidFill>
                  <a:srgbClr val="0F0F0F"/>
                </a:solidFill>
                <a:latin typeface="Times New Roman" panose="02020603050405020304" pitchFamily="18" charset="0"/>
                <a:cs typeface="Times New Roman" panose="02020603050405020304" pitchFamily="18" charset="0"/>
              </a:rPr>
              <a:t>User-Friendliness: Simple interface for easy message hiding and retrieval.</a:t>
            </a:r>
          </a:p>
          <a:p>
            <a:pPr marL="514350" indent="-514350">
              <a:buAutoNum type="arabicPeriod"/>
            </a:pPr>
            <a:r>
              <a:rPr lang="en-US" sz="2800" dirty="0">
                <a:solidFill>
                  <a:srgbClr val="0F0F0F"/>
                </a:solidFill>
                <a:latin typeface="Times New Roman" panose="02020603050405020304" pitchFamily="18" charset="0"/>
                <a:cs typeface="Times New Roman" panose="02020603050405020304" pitchFamily="18" charset="0"/>
              </a:rPr>
              <a:t>Practical Application: Useful for secure communication and data storage.</a:t>
            </a:r>
            <a:endParaRPr lang="en-IN" sz="2800" dirty="0">
              <a:solidFill>
                <a:srgbClr val="0F0F0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5986D-DBC5-8220-FE6F-7F2ABC7C4CEE}"/>
              </a:ext>
            </a:extLst>
          </p:cNvPr>
          <p:cNvSpPr>
            <a:spLocks noGrp="1"/>
          </p:cNvSpPr>
          <p:nvPr>
            <p:ph type="title"/>
          </p:nvPr>
        </p:nvSpPr>
        <p:spPr/>
        <p:txBody>
          <a:bodyPr/>
          <a:lstStyle/>
          <a:p>
            <a:r>
              <a:rPr lang="en-IN" dirty="0">
                <a:solidFill>
                  <a:schemeClr val="accent1"/>
                </a:solidFill>
              </a:rPr>
              <a:t>End users</a:t>
            </a:r>
          </a:p>
        </p:txBody>
      </p:sp>
      <p:sp>
        <p:nvSpPr>
          <p:cNvPr id="3" name="Content Placeholder 2">
            <a:extLst>
              <a:ext uri="{FF2B5EF4-FFF2-40B4-BE49-F238E27FC236}">
                <a16:creationId xmlns:a16="http://schemas.microsoft.com/office/drawing/2014/main" id="{AB679E23-F86A-AFA9-FE9C-7F5A518E8198}"/>
              </a:ext>
            </a:extLst>
          </p:cNvPr>
          <p:cNvSpPr>
            <a:spLocks noGrp="1"/>
          </p:cNvSpPr>
          <p:nvPr>
            <p:ph idx="1"/>
          </p:nvPr>
        </p:nvSpPr>
        <p:spPr>
          <a:xfrm>
            <a:off x="581193" y="1482520"/>
            <a:ext cx="11029615" cy="4673324"/>
          </a:xfrm>
        </p:spPr>
        <p:txBody>
          <a:bodyPr>
            <a:noAutofit/>
          </a:bodyPr>
          <a:lstStyle/>
          <a:p>
            <a:pPr marL="342900" indent="-342900">
              <a:buFont typeface="+mj-lt"/>
              <a:buAutoNum type="arabicPeriod"/>
            </a:pPr>
            <a:r>
              <a:rPr lang="en-US" sz="2800" dirty="0">
                <a:latin typeface="Times New Roman" panose="02020603050405020304" pitchFamily="18" charset="0"/>
                <a:cs typeface="Times New Roman" panose="02020603050405020304" pitchFamily="18" charset="0"/>
              </a:rPr>
              <a:t>Privacy-Conscious Individuals: People looking to securely hide sensitive information.</a:t>
            </a:r>
          </a:p>
          <a:p>
            <a:pPr marL="342900" indent="-342900">
              <a:buFont typeface="+mj-lt"/>
              <a:buAutoNum type="arabicPeriod"/>
            </a:pPr>
            <a:r>
              <a:rPr lang="en-US" sz="2800" dirty="0">
                <a:latin typeface="Times New Roman" panose="02020603050405020304" pitchFamily="18" charset="0"/>
                <a:cs typeface="Times New Roman" panose="02020603050405020304" pitchFamily="18" charset="0"/>
              </a:rPr>
              <a:t>Businesses and Organizations: Companies needing secure data transfer and storage.</a:t>
            </a:r>
          </a:p>
          <a:p>
            <a:pPr marL="342900" indent="-342900">
              <a:buFont typeface="+mj-lt"/>
              <a:buAutoNum type="arabicPeriod"/>
            </a:pPr>
            <a:r>
              <a:rPr lang="en-US" sz="2800" dirty="0">
                <a:latin typeface="Times New Roman" panose="02020603050405020304" pitchFamily="18" charset="0"/>
                <a:cs typeface="Times New Roman" panose="02020603050405020304" pitchFamily="18" charset="0"/>
              </a:rPr>
              <a:t>Government and Law Enforcement: Agencies requiring secure communication and data protection.</a:t>
            </a:r>
          </a:p>
          <a:p>
            <a:pPr marL="342900" indent="-342900">
              <a:buFont typeface="+mj-lt"/>
              <a:buAutoNum type="arabicPeriod"/>
            </a:pPr>
            <a:r>
              <a:rPr lang="en-US" sz="2800" dirty="0">
                <a:latin typeface="Times New Roman" panose="02020603050405020304" pitchFamily="18" charset="0"/>
                <a:cs typeface="Times New Roman" panose="02020603050405020304" pitchFamily="18" charset="0"/>
              </a:rPr>
              <a:t>Cybersecurity Professionals: Experts in safeguarding data and preventing unauthorized access.</a:t>
            </a:r>
          </a:p>
          <a:p>
            <a:pPr marL="342900" indent="-342900">
              <a:buFont typeface="+mj-lt"/>
              <a:buAutoNum type="arabicPeriod"/>
            </a:pPr>
            <a:r>
              <a:rPr lang="en-US" sz="2800" dirty="0">
                <a:latin typeface="Times New Roman" panose="02020603050405020304" pitchFamily="18" charset="0"/>
                <a:cs typeface="Times New Roman" panose="02020603050405020304" pitchFamily="18" charset="0"/>
              </a:rPr>
              <a:t>Digital Forensics Investigators: Professionals detecting hidden data in digital images for investigations.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9043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8070C-FF0D-BBE3-3D8A-C3794CCCE8A2}"/>
              </a:ext>
            </a:extLst>
          </p:cNvPr>
          <p:cNvSpPr>
            <a:spLocks noGrp="1"/>
          </p:cNvSpPr>
          <p:nvPr>
            <p:ph type="title"/>
          </p:nvPr>
        </p:nvSpPr>
        <p:spPr/>
        <p:txBody>
          <a:bodyPr/>
          <a:lstStyle/>
          <a:p>
            <a:r>
              <a:rPr lang="en-IN" dirty="0">
                <a:solidFill>
                  <a:schemeClr val="accent1"/>
                </a:solidFill>
              </a:rPr>
              <a:t>Results</a:t>
            </a:r>
          </a:p>
        </p:txBody>
      </p:sp>
      <p:pic>
        <p:nvPicPr>
          <p:cNvPr id="7" name="Picture 6">
            <a:extLst>
              <a:ext uri="{FF2B5EF4-FFF2-40B4-BE49-F238E27FC236}">
                <a16:creationId xmlns:a16="http://schemas.microsoft.com/office/drawing/2014/main" id="{7E458DDC-404D-BBB0-D6EB-DAE4378A242F}"/>
              </a:ext>
            </a:extLst>
          </p:cNvPr>
          <p:cNvPicPr>
            <a:picLocks noChangeAspect="1"/>
          </p:cNvPicPr>
          <p:nvPr/>
        </p:nvPicPr>
        <p:blipFill>
          <a:blip r:embed="rId2"/>
          <a:stretch>
            <a:fillRect/>
          </a:stretch>
        </p:blipFill>
        <p:spPr>
          <a:xfrm>
            <a:off x="581192" y="1232452"/>
            <a:ext cx="8864560" cy="5424380"/>
          </a:xfrm>
          <a:prstGeom prst="rect">
            <a:avLst/>
          </a:prstGeom>
        </p:spPr>
      </p:pic>
    </p:spTree>
    <p:extLst>
      <p:ext uri="{BB962C8B-B14F-4D97-AF65-F5344CB8AC3E}">
        <p14:creationId xmlns:p14="http://schemas.microsoft.com/office/powerpoint/2010/main" val="2083715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F56890-B90E-D1DC-1DB3-CAF90736EB0C}"/>
              </a:ext>
            </a:extLst>
          </p:cNvPr>
          <p:cNvSpPr>
            <a:spLocks noGrp="1"/>
          </p:cNvSpPr>
          <p:nvPr>
            <p:ph idx="1"/>
          </p:nvPr>
        </p:nvSpPr>
        <p:spPr/>
        <p:txBody>
          <a:bodyPr/>
          <a:lstStyle/>
          <a:p>
            <a:pPr marL="0" indent="0">
              <a:buNone/>
            </a:pPr>
            <a:endParaRPr lang="en-US" dirty="0"/>
          </a:p>
        </p:txBody>
      </p:sp>
      <p:pic>
        <p:nvPicPr>
          <p:cNvPr id="4" name="Picture 3">
            <a:extLst>
              <a:ext uri="{FF2B5EF4-FFF2-40B4-BE49-F238E27FC236}">
                <a16:creationId xmlns:a16="http://schemas.microsoft.com/office/drawing/2014/main" id="{2A624C5D-F38F-1E48-A38A-1964AA4EBFC1}"/>
              </a:ext>
            </a:extLst>
          </p:cNvPr>
          <p:cNvPicPr>
            <a:picLocks noChangeAspect="1"/>
          </p:cNvPicPr>
          <p:nvPr/>
        </p:nvPicPr>
        <p:blipFill>
          <a:blip r:embed="rId2"/>
          <a:stretch>
            <a:fillRect/>
          </a:stretch>
        </p:blipFill>
        <p:spPr>
          <a:xfrm>
            <a:off x="581192" y="1302026"/>
            <a:ext cx="10735060" cy="4673323"/>
          </a:xfrm>
          <a:prstGeom prst="rect">
            <a:avLst/>
          </a:prstGeom>
        </p:spPr>
      </p:pic>
    </p:spTree>
    <p:extLst>
      <p:ext uri="{BB962C8B-B14F-4D97-AF65-F5344CB8AC3E}">
        <p14:creationId xmlns:p14="http://schemas.microsoft.com/office/powerpoint/2010/main" val="66320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79B71200-C307-BFD6-88D9-C3454BA73239}"/>
              </a:ext>
            </a:extLst>
          </p:cNvPr>
          <p:cNvPicPr>
            <a:picLocks noGrp="1" noChangeAspect="1"/>
          </p:cNvPicPr>
          <p:nvPr>
            <p:ph idx="1"/>
          </p:nvPr>
        </p:nvPicPr>
        <p:blipFill>
          <a:blip r:embed="rId2"/>
          <a:stretch>
            <a:fillRect/>
          </a:stretch>
        </p:blipFill>
        <p:spPr>
          <a:xfrm>
            <a:off x="3629729" y="1301750"/>
            <a:ext cx="4932542" cy="4673600"/>
          </a:xfrm>
        </p:spPr>
      </p:pic>
    </p:spTree>
    <p:extLst>
      <p:ext uri="{BB962C8B-B14F-4D97-AF65-F5344CB8AC3E}">
        <p14:creationId xmlns:p14="http://schemas.microsoft.com/office/powerpoint/2010/main" val="3088069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C6B3D-1072-C2D2-EBFE-E33CABE394D1}"/>
              </a:ext>
            </a:extLst>
          </p:cNvPr>
          <p:cNvSpPr>
            <a:spLocks noGrp="1"/>
          </p:cNvSpPr>
          <p:nvPr>
            <p:ph type="title"/>
          </p:nvPr>
        </p:nvSpPr>
        <p:spPr/>
        <p:txBody>
          <a:bodyPr/>
          <a:lstStyle/>
          <a:p>
            <a:r>
              <a:rPr lang="en-IN" dirty="0">
                <a:solidFill>
                  <a:schemeClr val="accent1"/>
                </a:solidFill>
              </a:rPr>
              <a:t>Conclusion</a:t>
            </a:r>
          </a:p>
        </p:txBody>
      </p:sp>
      <p:sp>
        <p:nvSpPr>
          <p:cNvPr id="3" name="Content Placeholder 2">
            <a:extLst>
              <a:ext uri="{FF2B5EF4-FFF2-40B4-BE49-F238E27FC236}">
                <a16:creationId xmlns:a16="http://schemas.microsoft.com/office/drawing/2014/main" id="{D4974547-DF1B-77BB-E545-9344EDB9AD3F}"/>
              </a:ext>
            </a:extLst>
          </p:cNvPr>
          <p:cNvSpPr>
            <a:spLocks noGrp="1"/>
          </p:cNvSpPr>
          <p:nvPr>
            <p:ph idx="1"/>
          </p:nvPr>
        </p:nvSpPr>
        <p:spPr/>
        <p:txBody>
          <a:bodyPr>
            <a:normAutofit/>
          </a:bodyPr>
          <a:lstStyle/>
          <a:p>
            <a:pPr marL="0" indent="0">
              <a:buNone/>
            </a:pPr>
            <a:r>
              <a:rPr lang="en-US" sz="2800" dirty="0">
                <a:latin typeface="Times New Roman" panose="02020603050405020304" pitchFamily="18" charset="0"/>
                <a:cs typeface="Times New Roman" panose="02020603050405020304" pitchFamily="18" charset="0"/>
              </a:rPr>
              <a:t>In conclusion, the "Secure Data Hiding in Image Using Steganography" project successfully combines steganography and encryption to offer a secure and efficient method for embedding confidential information within images. By maintaining image quality and implementing password-based decryption, it ensures that hidden messages remain protected from unauthorized access. This project provides a practical solution for secure communication, data storage, and privacy protection, making it valuable for individuals, businesses, and organizations concerned with safeguarding sensitive data in digital form.</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3882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9F08C-D61F-627D-C4E5-397E3E84FC45}"/>
              </a:ext>
            </a:extLst>
          </p:cNvPr>
          <p:cNvSpPr>
            <a:spLocks noGrp="1"/>
          </p:cNvSpPr>
          <p:nvPr>
            <p:ph type="title"/>
          </p:nvPr>
        </p:nvSpPr>
        <p:spPr/>
        <p:txBody>
          <a:bodyPr/>
          <a:lstStyle/>
          <a:p>
            <a:r>
              <a:rPr lang="en-IN" dirty="0">
                <a:solidFill>
                  <a:schemeClr val="accent1"/>
                </a:solidFill>
              </a:rPr>
              <a:t>GitHub Link</a:t>
            </a:r>
          </a:p>
        </p:txBody>
      </p:sp>
      <p:sp>
        <p:nvSpPr>
          <p:cNvPr id="3" name="Content Placeholder 2">
            <a:extLst>
              <a:ext uri="{FF2B5EF4-FFF2-40B4-BE49-F238E27FC236}">
                <a16:creationId xmlns:a16="http://schemas.microsoft.com/office/drawing/2014/main" id="{51A299DD-46FA-7866-41D8-C1BFCC2F69DD}"/>
              </a:ext>
            </a:extLst>
          </p:cNvPr>
          <p:cNvSpPr>
            <a:spLocks noGrp="1"/>
          </p:cNvSpPr>
          <p:nvPr>
            <p:ph idx="1"/>
          </p:nvPr>
        </p:nvSpPr>
        <p:spPr/>
        <p:txBody>
          <a:bodyPr>
            <a:normAutofit/>
          </a:bodyPr>
          <a:lstStyle/>
          <a:p>
            <a:pPr>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hlinkClick r:id="rId2"/>
              </a:rPr>
              <a:t>https://github.com/GeeksShubh/Steganography.git</a:t>
            </a:r>
            <a:endParaRPr lang="en-IN" sz="2800" dirty="0">
              <a:latin typeface="Times New Roman" panose="02020603050405020304" pitchFamily="18" charset="0"/>
              <a:cs typeface="Times New Roman" panose="02020603050405020304" pitchFamily="18" charset="0"/>
            </a:endParaRPr>
          </a:p>
          <a:p>
            <a:pPr marL="0" indent="0">
              <a:buNone/>
            </a:pPr>
            <a:endParaRPr lang="en-IN" sz="2800" dirty="0">
              <a:latin typeface="Times New Roman" panose="02020603050405020304" pitchFamily="18" charset="0"/>
              <a:cs typeface="Times New Roman" panose="02020603050405020304" pitchFamily="18" charset="0"/>
            </a:endParaRPr>
          </a:p>
          <a:p>
            <a:pPr marL="0" indent="0">
              <a:buNone/>
            </a:pPr>
            <a:endParaRPr lang="en-IN" sz="2800" dirty="0">
              <a:latin typeface="Times New Roman" panose="02020603050405020304" pitchFamily="18" charset="0"/>
              <a:cs typeface="Times New Roman" panose="02020603050405020304" pitchFamily="18" charset="0"/>
            </a:endParaRPr>
          </a:p>
          <a:p>
            <a:pPr marL="0" indent="0">
              <a:buNone/>
            </a:pPr>
            <a:endParaRPr lang="en-IN" sz="2800" dirty="0">
              <a:latin typeface="Times New Roman" panose="02020603050405020304" pitchFamily="18" charset="0"/>
              <a:cs typeface="Times New Roman" panose="02020603050405020304" pitchFamily="18" charset="0"/>
            </a:endParaRPr>
          </a:p>
          <a:p>
            <a:pPr marL="0" indent="0">
              <a:buNone/>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0664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F0268AC5E70984D8FE60B7154176407" ma:contentTypeVersion="15" ma:contentTypeDescription="Create a new document." ma:contentTypeScope="" ma:versionID="104e359103f0f57b1cf9676756e5b944">
  <xsd:schema xmlns:xsd="http://www.w3.org/2001/XMLSchema" xmlns:xs="http://www.w3.org/2001/XMLSchema" xmlns:p="http://schemas.microsoft.com/office/2006/metadata/properties" xmlns:ns3="b30265f8-c5e2-4918-b4a1-b977299ca3e2" xmlns:ns4="fadb41d3-f9cb-40fb-903c-8cacaba95bb5" targetNamespace="http://schemas.microsoft.com/office/2006/metadata/properties" ma:root="true" ma:fieldsID="5615b8f8aa772998bad551f24a33de0e" ns3:_="" ns4:_="">
    <xsd:import namespace="b30265f8-c5e2-4918-b4a1-b977299ca3e2"/>
    <xsd:import namespace="fadb41d3-f9cb-40fb-903c-8cacaba95bb5"/>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SearchProperties" minOccurs="0"/>
                <xsd:element ref="ns3:MediaServiceDateTaken"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0265f8-c5e2-4918-b4a1-b977299ca3e2"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adb41d3-f9cb-40fb-903c-8cacaba95bb5"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b30265f8-c5e2-4918-b4a1-b977299ca3e2" xsi:nil="true"/>
  </documentManagement>
</p:properties>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9DD71778-17EE-4151-88AE-C8F4E8043B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30265f8-c5e2-4918-b4a1-b977299ca3e2"/>
    <ds:schemaRef ds:uri="fadb41d3-f9cb-40fb-903c-8cacaba95b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D289AE2-D2AE-49D1-AFAC-3A79F6794255}">
  <ds:schemaRefs>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http://purl.org/dc/elements/1.1/"/>
    <ds:schemaRef ds:uri="http://schemas.microsoft.com/office/2006/metadata/properties"/>
    <ds:schemaRef ds:uri="fadb41d3-f9cb-40fb-903c-8cacaba95bb5"/>
    <ds:schemaRef ds:uri="http://purl.org/dc/terms/"/>
    <ds:schemaRef ds:uri="b30265f8-c5e2-4918-b4a1-b977299ca3e2"/>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Future forward</Template>
  <TotalTime>89</TotalTime>
  <Words>414</Words>
  <Application>Microsoft Office PowerPoint</Application>
  <PresentationFormat>Widescreen</PresentationFormat>
  <Paragraphs>44</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Calibri Light</vt:lpstr>
      <vt:lpstr>Franklin Gothic Book</vt:lpstr>
      <vt:lpstr>Franklin Gothic Demi</vt:lpstr>
      <vt:lpstr>Times New Roman</vt:lpstr>
      <vt:lpstr>Wingdings 2</vt:lpstr>
      <vt:lpstr>DividendVTI</vt:lpstr>
      <vt:lpstr>Secure data hiding in image using steganography</vt:lpstr>
      <vt:lpstr>OUTLINE</vt:lpstr>
      <vt:lpstr>Problem Statement</vt:lpstr>
      <vt:lpstr>Technology  used</vt:lpstr>
      <vt:lpstr>Wow factors</vt:lpstr>
      <vt:lpstr>End users</vt:lpstr>
      <vt:lpstr>Results</vt:lpstr>
      <vt:lpstr>PowerPoint Presentation</vt:lpstr>
      <vt:lpstr>PowerPoint Presentation</vt:lpstr>
      <vt:lpstr>Conclusion</vt:lpstr>
      <vt:lpstr>GitHub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Shubham Kshirsagar</cp:lastModifiedBy>
  <cp:revision>26</cp:revision>
  <dcterms:created xsi:type="dcterms:W3CDTF">2021-05-26T16:50:10Z</dcterms:created>
  <dcterms:modified xsi:type="dcterms:W3CDTF">2025-02-25T15:09:58Z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0x0101007F0268AC5E70984D8FE60B7154176407</vt:lpwstr>
  </property>
</Properties>
</file>